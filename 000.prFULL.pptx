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Gelasio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ato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146" y="-12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A1728-454F-490E-A24E-499005BEE4B1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8809-0C8E-417C-93BB-6DF1E94BB4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08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73" y="344017"/>
            <a:ext cx="3794927" cy="44554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6" y="838483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Комплексный анализ безопасности пиратского программного обеспечения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195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324B486-8A66-4B40-8C3A-8877E9C41E35}"/>
              </a:ext>
            </a:extLst>
          </p:cNvPr>
          <p:cNvSpPr txBox="1"/>
          <p:nvPr/>
        </p:nvSpPr>
        <p:spPr>
          <a:xfrm>
            <a:off x="730656" y="2364209"/>
            <a:ext cx="42536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00" dirty="0"/>
              <a:t>Работу выполнил – Харченко Максим Александрович 9ИБ-125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F516F2A-9A27-408B-9633-31C52D01FD1A}"/>
              </a:ext>
            </a:extLst>
          </p:cNvPr>
          <p:cNvSpPr txBox="1"/>
          <p:nvPr/>
        </p:nvSpPr>
        <p:spPr>
          <a:xfrm>
            <a:off x="1317624" y="4472342"/>
            <a:ext cx="30797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00" dirty="0"/>
              <a:t>Руководитель проекта – Масленников Владислав Андреевич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224" y="217384"/>
            <a:ext cx="3503776" cy="47087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68908"/>
            <a:ext cx="4445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Почему это актуально?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30375"/>
            <a:ext cx="2290465" cy="1955081"/>
          </a:xfrm>
          <a:prstGeom prst="roundRect">
            <a:avLst>
              <a:gd name="adj" fmla="val 304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4710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Уход вендоров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777529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Adobe, Autodesk и другие покинули российский рынок — пользователи ищут альтернативы, часто нелегальные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324496"/>
            <a:ext cx="2290539" cy="1955081"/>
          </a:xfrm>
          <a:prstGeom prst="roundRect">
            <a:avLst>
              <a:gd name="adj" fmla="val 304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471017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Рост киберпреступности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1998985"/>
            <a:ext cx="199749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 данным Positive Technologies, число атак через пиратское ПО выросло на 40% за последний год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421335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567857"/>
            <a:ext cx="19549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Монетизация взломов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87436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Кряки и кейгены распространяются вместе с вирусами — это бизнес, а не «помощь» пользователям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721"/>
            <a:ext cx="4415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Цель и задачи проекта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94309"/>
            <a:ext cx="4107135" cy="1610469"/>
          </a:xfrm>
          <a:prstGeom prst="roundRect">
            <a:avLst>
              <a:gd name="adj" fmla="val 6338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Цель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99283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ru-RU" sz="1100" dirty="0" smtClean="0"/>
              <a:t>Провести </a:t>
            </a:r>
            <a:r>
              <a:rPr lang="ru-RU" sz="1100" dirty="0"/>
              <a:t>комплексный анализ безопасности пиратского программного обеспечения и механизмы его защиты, оценить сопутствующие угрозы.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Задачи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9928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Изучить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ru-RU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основы взлома ПО и механизмы обхода защиты 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DRM </a:t>
            </a:r>
            <a:r>
              <a:rPr lang="ru-RU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Denuvo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Anti-Tamper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Классифицировать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основные типы угроз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Разобрать методы обхода защиты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Провести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практическ</a:t>
            </a:r>
            <a:r>
              <a:rPr lang="ru-RU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ое</a:t>
            </a:r>
            <a:r>
              <a:rPr lang="ru-RU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исследование вредоносного файла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4723"/>
            <a:ext cx="45486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Технологии защиты ПО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8" y="1901048"/>
            <a:ext cx="2622724" cy="21874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1180" y="19375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24273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Denuvo Anti-Tamper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733824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Самая известная система защиты. Шифрует исполняемый код, проверяет целостность файлов в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реальном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времени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841227"/>
            <a:ext cx="2622724" cy="21874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65662" y="19375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421410" y="24273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HWID-привязка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733824"/>
            <a:ext cx="2301106" cy="1103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Лицензия привязывается к 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аппаратному обеспечению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компьютера (CPU, GPU, материнская плата). Перенос на другой ПК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блокирует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1841227"/>
            <a:ext cx="2622724" cy="21874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30145" y="19375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185892" y="24273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триггеров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1" y="2733824"/>
            <a:ext cx="240263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Динамические проверки: программа в случайные моменты времени проверяет, не взломана ли она.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Обнаружение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блокировка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41569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Классификация угроз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Стилеры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Крадут пароли, cookies, данные банковских карт из браузеров и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мессенджеров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Майнеры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Используют GPU/CPU жертвы для добычи криптовалюты — 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снижает производительность системы.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Remote Access Trojan — полный контроль над ПК: камера, микрофон,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файлы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Ransomware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Шифруют файлы и требуют выкуп. Восстановление без ключа </a:t>
            </a:r>
            <a:r>
              <a:rPr 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почти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невозможно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1762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Как обходят защиту</a:t>
            </a:r>
            <a:endParaRPr lang="en-US" sz="26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82" y="898859"/>
            <a:ext cx="4726780" cy="36979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1166254"/>
            <a:ext cx="202629" cy="2026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9810" y="116212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Патчинг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59810" y="1501973"/>
            <a:ext cx="221605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Изменение байтов в исполняемом файле — 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удаляют алгоритмы</a:t>
            </a:r>
            <a:r>
              <a:rPr lang="en-US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проверки лицензии и </a:t>
            </a:r>
            <a:r>
              <a:rPr lang="en-US" sz="10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активации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2396989"/>
            <a:ext cx="202629" cy="202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59810" y="2392859"/>
            <a:ext cx="172752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Эмуляция библиотек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459810" y="2732708"/>
            <a:ext cx="221605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Подмена DLL-файлов: программа «думает», что обращается к </a:t>
            </a:r>
            <a:r>
              <a:rPr lang="en-US" sz="10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лицензионному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0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серверу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3627723"/>
            <a:ext cx="202629" cy="202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9810" y="3623593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Кейгены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459810" y="3963442"/>
            <a:ext cx="221605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Генераторы ключей, которые подбирают или имитируют валидные </a:t>
            </a:r>
            <a:r>
              <a:rPr lang="en-US" sz="10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серийные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0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номера</a:t>
            </a:r>
            <a:r>
              <a:rPr lang="ru-RU" sz="10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60611"/>
            <a:ext cx="542843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Методы маскировки вредоносов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4" y="1032942"/>
            <a:ext cx="2714104" cy="1136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255" y="117120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Байндеры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15255" y="1473547"/>
            <a:ext cx="238043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Склейка легальной программы с вирусом в один файл — антивирус не </a:t>
            </a:r>
            <a:r>
              <a:rPr lang="en-US" sz="9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всегда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9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замечает</a:t>
            </a:r>
            <a:r>
              <a:rPr lang="ru-RU" sz="9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4" y="2278410"/>
            <a:ext cx="2714104" cy="11369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5255" y="241667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Дропперы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5255" y="2719015"/>
            <a:ext cx="238043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Маленький файл-загрузчик, который после запуска скачивает основной вредонос </a:t>
            </a:r>
            <a:r>
              <a:rPr lang="en-US" sz="95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9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интернета</a:t>
            </a:r>
            <a:r>
              <a:rPr lang="ru-RU" sz="9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4" y="3523878"/>
            <a:ext cx="2714104" cy="11369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255" y="3662139"/>
            <a:ext cx="18221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Социальная инженерия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5255" y="3964484"/>
            <a:ext cx="238043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«Отключите антивирус перед установкой» — классическая просьба в инструкциях к </a:t>
            </a:r>
            <a:r>
              <a:rPr lang="en-US" sz="95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крякам</a:t>
            </a:r>
            <a:r>
              <a:rPr lang="ru-RU" sz="95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pic>
        <p:nvPicPr>
          <p:cNvPr id="12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722" y="888763"/>
            <a:ext cx="5273278" cy="36393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51904"/>
            <a:ext cx="499839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Практическая часть: разбор кейса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57250"/>
            <a:ext cx="748925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После запуска пиратской версии программы папка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«Мои документы»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оказалась заблокирована. Файлы недоступны, на рабочем столе появилась записка с требованием выкупа.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257300"/>
            <a:ext cx="7489254" cy="32875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97828" y="3637262"/>
            <a:ext cx="1312780" cy="20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Запуск ПО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097828" y="3897834"/>
            <a:ext cx="131278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Запуск пиратской программы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83710" y="3586771"/>
            <a:ext cx="1312780" cy="20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Проверка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83710" y="3847343"/>
            <a:ext cx="131278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VirusTotal: детект Trojan.Ransom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51589" y="1602048"/>
            <a:ext cx="1312780" cy="20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Блокировка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51589" y="1862620"/>
            <a:ext cx="1312780" cy="42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Папка «Мои документы» зашифрована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7336" y="4638303"/>
            <a:ext cx="794645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Анализ исполняемого файла на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VirusTotal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показал 47 детектов из 68 антивирусов. Основной вердикт: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Trojan.Ransom.Win32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809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Решение инцидента: восстановление прав NTFS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3842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Что произошло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0163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Вредонос</a:t>
            </a:r>
            <a:r>
              <a:rPr lang="ru-RU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ная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программа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изменил</a:t>
            </a:r>
            <a:r>
              <a:rPr lang="ru-RU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</a:t>
            </a:r>
            <a:r>
              <a:rPr lang="en-US" sz="11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права доступа NTFS на папку — пользователь потерял контроль над своими файлами, хотя данные не были зашифрованы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241551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461370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40451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Вредоносная программа имитировала шифрование </a:t>
            </a:r>
            <a:r>
              <a:rPr lang="en-US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</a:t>
            </a:r>
            <a:r>
              <a:rPr lang="en-US" sz="1100" dirty="0" err="1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файлы</a:t>
            </a: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 повреждены</a:t>
            </a:r>
            <a:r>
              <a:rPr lang="en-US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достаточно восстановить</a:t>
            </a:r>
            <a:r>
              <a:rPr lang="en-US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права</a:t>
            </a:r>
            <a:r>
              <a:rPr lang="ru-RU" sz="1100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038424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Команды восстановления (CMD от имени администратора)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9701" y="2640806"/>
            <a:ext cx="3902943" cy="96396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859759" y="2572668"/>
            <a:ext cx="3917082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4919811" y="2782565"/>
            <a:ext cx="35627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takeown /f "C:\Users\Name\Documents" /r /d 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"C:\Users\Name\Documents" /grant Users:F /t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376423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takeown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возвращает владельца папки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icacls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выдаёт полные права пользователю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857250"/>
            <a:ext cx="3429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844" y="119075"/>
            <a:ext cx="48151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Выводы и рекомендации</a:t>
            </a:r>
            <a:endParaRPr lang="en-US" sz="2750" dirty="0"/>
          </a:p>
        </p:txBody>
      </p:sp>
      <p:sp>
        <p:nvSpPr>
          <p:cNvPr id="15" name="TextBox 14"/>
          <p:cNvSpPr txBox="1"/>
          <p:nvPr/>
        </p:nvSpPr>
        <p:spPr>
          <a:xfrm>
            <a:off x="226463" y="747757"/>
            <a:ext cx="47685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00" dirty="0" smtClean="0">
                <a:cs typeface="Gelasio" panose="020B0604020202020204" charset="0"/>
              </a:rPr>
              <a:t>Была достигнута поставленная цель, проведен анализ безопасности пиратского программного </a:t>
            </a:r>
            <a:r>
              <a:rPr lang="ru-RU" sz="1300" dirty="0" smtClean="0">
                <a:cs typeface="Gelasio" panose="020B0604020202020204" charset="0"/>
              </a:rPr>
              <a:t>обеспечения</a:t>
            </a:r>
            <a:r>
              <a:rPr lang="ru-RU" sz="1300" dirty="0" smtClean="0">
                <a:cs typeface="Gelasio" panose="020B0604020202020204" charset="0"/>
              </a:rPr>
              <a:t>, </a:t>
            </a:r>
            <a:r>
              <a:rPr lang="ru-RU" sz="1300" dirty="0" smtClean="0">
                <a:cs typeface="Gelasio" panose="020B0604020202020204" charset="0"/>
              </a:rPr>
              <a:t>риски</a:t>
            </a:r>
            <a:r>
              <a:rPr lang="ru-RU" sz="1300" dirty="0" smtClean="0">
                <a:cs typeface="Gelasio" panose="020B0604020202020204" charset="0"/>
              </a:rPr>
              <a:t>, с которыми может столкнуться </a:t>
            </a:r>
            <a:r>
              <a:rPr lang="ru-RU" sz="1300" dirty="0" smtClean="0">
                <a:cs typeface="Gelasio" panose="020B0604020202020204" charset="0"/>
              </a:rPr>
              <a:t>пользователь, а </a:t>
            </a:r>
            <a:r>
              <a:rPr lang="ru-RU" sz="1300" dirty="0" smtClean="0">
                <a:cs typeface="Gelasio" panose="020B0604020202020204" charset="0"/>
              </a:rPr>
              <a:t>также принципы работы современных технологий защиты.</a:t>
            </a:r>
          </a:p>
        </p:txBody>
      </p:sp>
      <p:sp>
        <p:nvSpPr>
          <p:cNvPr id="18" name="Shape 4"/>
          <p:cNvSpPr/>
          <p:nvPr/>
        </p:nvSpPr>
        <p:spPr>
          <a:xfrm>
            <a:off x="226463" y="189792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9" name="Прямоугольник 18"/>
          <p:cNvSpPr/>
          <p:nvPr/>
        </p:nvSpPr>
        <p:spPr>
          <a:xfrm>
            <a:off x="640972" y="1857343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Высокий риск:</a:t>
            </a:r>
            <a:r>
              <a:rPr lang="ru-RU" sz="1000" dirty="0"/>
              <a:t> Пиратское ПО — основной источник внедрения вредоносного кода (</a:t>
            </a:r>
            <a:r>
              <a:rPr lang="ru-RU" sz="1000" dirty="0" err="1"/>
              <a:t>майнеры</a:t>
            </a:r>
            <a:r>
              <a:rPr lang="ru-RU" sz="1000" dirty="0"/>
              <a:t>, шифровальщики).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40972" y="2568282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Отсутствие защиты:</a:t>
            </a:r>
            <a:r>
              <a:rPr lang="ru-RU" sz="1000" dirty="0"/>
              <a:t> Без официальных обновлений система остается уязвимой для новых </a:t>
            </a:r>
            <a:r>
              <a:rPr lang="ru-RU" sz="1000" dirty="0" err="1" smtClean="0"/>
              <a:t>киберугроз</a:t>
            </a:r>
            <a:r>
              <a:rPr lang="ru-RU" sz="1000" dirty="0" smtClean="0"/>
              <a:t>.</a:t>
            </a:r>
            <a:endParaRPr lang="ru-RU" sz="1000" dirty="0"/>
          </a:p>
        </p:txBody>
      </p:sp>
      <p:sp>
        <p:nvSpPr>
          <p:cNvPr id="22" name="Shape 4"/>
          <p:cNvSpPr/>
          <p:nvPr/>
        </p:nvSpPr>
        <p:spPr>
          <a:xfrm>
            <a:off x="226463" y="260727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3" name="Прямоугольник 22"/>
          <p:cNvSpPr/>
          <p:nvPr/>
        </p:nvSpPr>
        <p:spPr>
          <a:xfrm>
            <a:off x="640972" y="3279221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Скрытые затраты:</a:t>
            </a:r>
            <a:r>
              <a:rPr lang="ru-RU" sz="1000" dirty="0"/>
              <a:t> Расходы на восстановление данных и техники превышают стоимость лицензии.</a:t>
            </a:r>
          </a:p>
        </p:txBody>
      </p:sp>
      <p:sp>
        <p:nvSpPr>
          <p:cNvPr id="25" name="Shape 4"/>
          <p:cNvSpPr/>
          <p:nvPr/>
        </p:nvSpPr>
        <p:spPr>
          <a:xfrm>
            <a:off x="226463" y="331661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6" name="Прямоугольник 25"/>
          <p:cNvSpPr/>
          <p:nvPr/>
        </p:nvSpPr>
        <p:spPr>
          <a:xfrm>
            <a:off x="640972" y="3990160"/>
            <a:ext cx="3892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/>
              <a:t>Альтернатива:</a:t>
            </a:r>
            <a:r>
              <a:rPr lang="ru-RU" sz="1000" dirty="0"/>
              <a:t> Безопасная замена пиратского софта — переход на </a:t>
            </a:r>
            <a:r>
              <a:rPr lang="ru-RU" sz="1000" dirty="0" err="1"/>
              <a:t>Open</a:t>
            </a:r>
            <a:r>
              <a:rPr lang="ru-RU" sz="1000" dirty="0"/>
              <a:t> </a:t>
            </a:r>
            <a:r>
              <a:rPr lang="ru-RU" sz="1000" dirty="0" err="1"/>
              <a:t>Source</a:t>
            </a:r>
            <a:r>
              <a:rPr lang="ru-RU" sz="1000" dirty="0"/>
              <a:t> решения.</a:t>
            </a:r>
          </a:p>
        </p:txBody>
      </p:sp>
      <p:sp>
        <p:nvSpPr>
          <p:cNvPr id="27" name="Shape 4"/>
          <p:cNvSpPr/>
          <p:nvPr/>
        </p:nvSpPr>
        <p:spPr>
          <a:xfrm>
            <a:off x="226462" y="402595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357</TotalTime>
  <Words>587</Words>
  <Application>Microsoft Office PowerPoint</Application>
  <PresentationFormat>Экран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Gelasio</vt:lpstr>
      <vt:lpstr>Consolas</vt:lpstr>
      <vt:lpstr>Calibri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23</cp:revision>
  <dcterms:created xsi:type="dcterms:W3CDTF">2026-06-09T17:15:43Z</dcterms:created>
  <dcterms:modified xsi:type="dcterms:W3CDTF">2026-06-16T17:12:18Z</dcterms:modified>
</cp:coreProperties>
</file>