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Lato" panose="020B0604020202020204" charset="0"/>
      <p:regular r:id="rId17"/>
    </p:embeddedFont>
    <p:embeddedFont>
      <p:font typeface="Gelasio" panose="020B0604020202020204" charset="0"/>
      <p:regular r:id="rId18"/>
    </p:embeddedFont>
    <p:embeddedFont>
      <p:font typeface="Consolas" panose="020B0609020204030204" pitchFamily="49" charset="0"/>
      <p:regular r:id="rId19"/>
      <p:bold r:id="rId20"/>
      <p:italic r:id="rId21"/>
      <p:bold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23" d="100"/>
          <a:sy n="223" d="100"/>
        </p:scale>
        <p:origin x="-324" y="-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0A1728-454F-490E-A24E-499005BEE4B1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08809-0C8E-417C-93BB-6DF1E94BB4E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0089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image" Target="../media/image1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9073" y="344017"/>
            <a:ext cx="3794927" cy="445546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6" y="838483"/>
            <a:ext cx="4722763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Комплексный анализ безопасности пиратского программного обеспечения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3119512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6324B486-8A66-4B40-8C3A-8877E9C41E35}"/>
              </a:ext>
            </a:extLst>
          </p:cNvPr>
          <p:cNvSpPr txBox="1"/>
          <p:nvPr/>
        </p:nvSpPr>
        <p:spPr>
          <a:xfrm>
            <a:off x="730656" y="2364209"/>
            <a:ext cx="425368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300" dirty="0"/>
              <a:t>Работу выполнил – Харченко Максим Александрович 9ИБ-125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6F516F2A-9A27-408B-9633-31C52D01FD1A}"/>
              </a:ext>
            </a:extLst>
          </p:cNvPr>
          <p:cNvSpPr txBox="1"/>
          <p:nvPr/>
        </p:nvSpPr>
        <p:spPr>
          <a:xfrm>
            <a:off x="1317624" y="4472342"/>
            <a:ext cx="30797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300" dirty="0"/>
              <a:t>Руководитель проекта – Масленников Владислав Андреевич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0224" y="217384"/>
            <a:ext cx="3503776" cy="470873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668908"/>
            <a:ext cx="44457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Почему это актуально?</a:t>
            </a:r>
            <a:endParaRPr lang="en-US" sz="2750" dirty="0"/>
          </a:p>
        </p:txBody>
      </p:sp>
      <p:sp>
        <p:nvSpPr>
          <p:cNvPr id="4" name="Shape 1"/>
          <p:cNvSpPr/>
          <p:nvPr/>
        </p:nvSpPr>
        <p:spPr>
          <a:xfrm>
            <a:off x="496119" y="1330375"/>
            <a:ext cx="2290465" cy="1955081"/>
          </a:xfrm>
          <a:prstGeom prst="roundRect">
            <a:avLst>
              <a:gd name="adj" fmla="val 3046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2640" y="1471017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Уход вендоров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2640" y="1777529"/>
            <a:ext cx="1997422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Adobe, Autodesk и другие покинули российский рынок — пользователи ищут альтернативы, часто нелегальные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928342" y="1324496"/>
            <a:ext cx="2290539" cy="1955081"/>
          </a:xfrm>
          <a:prstGeom prst="roundRect">
            <a:avLst>
              <a:gd name="adj" fmla="val 3046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074863" y="1471017"/>
            <a:ext cx="1997497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Рост киберпреступности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74863" y="1998985"/>
            <a:ext cx="1997497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По данным Positive Technologies, число атак через пиратское ПО выросло на 40% за последний год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6119" y="3421335"/>
            <a:ext cx="4722763" cy="1053182"/>
          </a:xfrm>
          <a:prstGeom prst="roundRect">
            <a:avLst>
              <a:gd name="adj" fmla="val 5654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2640" y="3567857"/>
            <a:ext cx="195493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Монетизация взломов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42640" y="3874368"/>
            <a:ext cx="442972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Кряки и кейгены распространяются вместе с вирусами — это бизнес, а не «помощь» пользователям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438721"/>
            <a:ext cx="441558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Цель и задачи проекта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394022" y="2094309"/>
            <a:ext cx="4107135" cy="1610469"/>
          </a:xfrm>
          <a:prstGeom prst="roundRect">
            <a:avLst>
              <a:gd name="adj" fmla="val 6338"/>
            </a:avLst>
          </a:prstGeom>
          <a:solidFill>
            <a:srgbClr val="E5E5E0">
              <a:alpha val="9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35781" y="2236068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Цель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35781" y="2599283"/>
            <a:ext cx="3823618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Провести комплексный анализ рисков при использовании </a:t>
            </a:r>
            <a:r>
              <a:rPr lang="en-US" sz="1100" dirty="0" err="1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пиратского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ПО</a:t>
            </a:r>
            <a:r>
              <a:rPr lang="ru-RU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, оценить угрозы.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49701" y="2236068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Задачи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49701" y="2599283"/>
            <a:ext cx="3902943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Изучить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ru-RU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основы взлома ПО и механизмы обхода защиты 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DRM </a:t>
            </a:r>
            <a:r>
              <a:rPr lang="ru-RU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и </a:t>
            </a:r>
            <a:r>
              <a:rPr lang="en-US" sz="1100" dirty="0" err="1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Denuvo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Anti-Tamper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Классифицировать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основные типы угроз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Разобрать методы обхода защиты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 err="1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Провести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en-US" sz="1100" dirty="0" err="1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практическ</a:t>
            </a:r>
            <a:r>
              <a:rPr lang="ru-RU" sz="1100" dirty="0" err="1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ое</a:t>
            </a:r>
            <a:r>
              <a:rPr lang="ru-RU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исследование вредоносного файла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114723"/>
            <a:ext cx="454863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Технологии защиты ПО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77068" y="1901048"/>
            <a:ext cx="2622724" cy="21874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01180" y="1937593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1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656927" y="242731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Denuvo Anti-Tamper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56927" y="2733824"/>
            <a:ext cx="230110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Самая известная система защиты. Шифрует исполняемый код, проверяет целостность файлов в реальном времени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3260601" y="1841227"/>
            <a:ext cx="2622724" cy="21874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65662" y="1937593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2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3421410" y="242731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HWID-привязка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3421410" y="2733824"/>
            <a:ext cx="230110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Лицензия привязывается к «железу» компьютера (CPU, GPU, материнская плата). Перенос на другой ПК блокирует ПО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025083" y="1841227"/>
            <a:ext cx="2622724" cy="21874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230145" y="1937593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3</a:t>
            </a:r>
            <a:endParaRPr lang="en-US" sz="1650" dirty="0"/>
          </a:p>
        </p:txBody>
      </p:sp>
      <p:sp>
        <p:nvSpPr>
          <p:cNvPr id="13" name="Text 8"/>
          <p:cNvSpPr/>
          <p:nvPr/>
        </p:nvSpPr>
        <p:spPr>
          <a:xfrm>
            <a:off x="6185892" y="242731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Система триггеров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6185892" y="2733824"/>
            <a:ext cx="2301106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Динамические проверки: программа в случайные моменты времени проверяет, не взломана ли она. Обнаружение — блокировка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17401"/>
            <a:ext cx="4156918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Классификация угроз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96119" y="1243905"/>
            <a:ext cx="4004965" cy="1620217"/>
          </a:xfrm>
          <a:prstGeom prst="roundRect">
            <a:avLst>
              <a:gd name="adj" fmla="val 3675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2640" y="1390427"/>
            <a:ext cx="425276" cy="425276"/>
          </a:xfrm>
          <a:prstGeom prst="roundRect">
            <a:avLst>
              <a:gd name="adj" fmla="val 13436988"/>
            </a:avLst>
          </a:prstGeom>
          <a:solidFill>
            <a:srgbClr val="E5E5E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759619" y="1507331"/>
            <a:ext cx="191319" cy="1913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2640" y="195746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Стилеры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42640" y="2263973"/>
            <a:ext cx="37119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Крадут пароли, cookies, данные банковских карт из браузеров и мессенджеров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42842" y="1243905"/>
            <a:ext cx="4005039" cy="1620217"/>
          </a:xfrm>
          <a:prstGeom prst="roundRect">
            <a:avLst>
              <a:gd name="adj" fmla="val 3675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89363" y="1390427"/>
            <a:ext cx="425276" cy="425276"/>
          </a:xfrm>
          <a:prstGeom prst="roundRect">
            <a:avLst>
              <a:gd name="adj" fmla="val 13436988"/>
            </a:avLst>
          </a:prstGeom>
          <a:solidFill>
            <a:srgbClr val="E5E5E0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906342" y="1507331"/>
            <a:ext cx="191319" cy="19131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89363" y="195746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Майнеры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789363" y="2263973"/>
            <a:ext cx="371199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Используют GPU/CPU жертвы для добычи криптовалюты — компьютер тормозит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96119" y="3005882"/>
            <a:ext cx="4004965" cy="1620217"/>
          </a:xfrm>
          <a:prstGeom prst="roundRect">
            <a:avLst>
              <a:gd name="adj" fmla="val 3675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2640" y="3152403"/>
            <a:ext cx="425276" cy="425276"/>
          </a:xfrm>
          <a:prstGeom prst="roundRect">
            <a:avLst>
              <a:gd name="adj" fmla="val 13436988"/>
            </a:avLst>
          </a:prstGeom>
          <a:solidFill>
            <a:srgbClr val="E5E5E0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759619" y="3269307"/>
            <a:ext cx="191319" cy="19131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2640" y="3719438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RAT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42640" y="4025950"/>
            <a:ext cx="37119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Remote Access Trojan — полный контроль над ПК: камера, микрофон, файлы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642842" y="3005882"/>
            <a:ext cx="4005039" cy="1620217"/>
          </a:xfrm>
          <a:prstGeom prst="roundRect">
            <a:avLst>
              <a:gd name="adj" fmla="val 3675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789363" y="3152403"/>
            <a:ext cx="425276" cy="425276"/>
          </a:xfrm>
          <a:prstGeom prst="roundRect">
            <a:avLst>
              <a:gd name="adj" fmla="val 13436988"/>
            </a:avLst>
          </a:prstGeom>
          <a:solidFill>
            <a:srgbClr val="E5E5E0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4906342" y="3269307"/>
            <a:ext cx="191319" cy="19131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789363" y="3719438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Ransomware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4789363" y="4025950"/>
            <a:ext cx="371199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Шифруют файлы и требуют выкуп. Восстановление без ключа почти невозможно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2901" y="401762"/>
            <a:ext cx="3835226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Как обходят защиту</a:t>
            </a:r>
            <a:endParaRPr lang="en-US" sz="2650" dirty="0"/>
          </a:p>
        </p:txBody>
      </p:sp>
      <p:pic>
        <p:nvPicPr>
          <p:cNvPr id="3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82" y="898859"/>
            <a:ext cx="4726780" cy="3697921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071443" y="1166254"/>
            <a:ext cx="202629" cy="20262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59810" y="1162124"/>
            <a:ext cx="168897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Патчинг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6459810" y="1501973"/>
            <a:ext cx="2216051" cy="633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Изменение байтов в исполняемом файле — убирают проверки лицензии и активации</a:t>
            </a:r>
            <a:endParaRPr lang="en-US" sz="10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071443" y="2396989"/>
            <a:ext cx="202629" cy="20262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459810" y="2392859"/>
            <a:ext cx="172752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Эмуляция библиотек</a:t>
            </a:r>
            <a:endParaRPr lang="en-US" sz="1300" dirty="0"/>
          </a:p>
        </p:txBody>
      </p:sp>
      <p:sp>
        <p:nvSpPr>
          <p:cNvPr id="9" name="Text 4"/>
          <p:cNvSpPr/>
          <p:nvPr/>
        </p:nvSpPr>
        <p:spPr>
          <a:xfrm>
            <a:off x="6459810" y="2732708"/>
            <a:ext cx="2216051" cy="633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Подмена DLL-файлов: программа «думает», что обращается к лицензионному серверу</a:t>
            </a:r>
            <a:endParaRPr lang="en-US" sz="10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071443" y="3627723"/>
            <a:ext cx="202629" cy="202629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459810" y="3623593"/>
            <a:ext cx="168897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Кейгены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6459810" y="3963442"/>
            <a:ext cx="2216051" cy="633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Генераторы ключей, которые подбирают или имитируют валидные серийные номера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4132" y="360611"/>
            <a:ext cx="5428431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Методы маскировки вредоносов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19844" y="1032942"/>
            <a:ext cx="2714104" cy="11369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15255" y="1171203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Байндеры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15255" y="1473547"/>
            <a:ext cx="2380431" cy="558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Склейка легальной программы с вирусом в один файл — антивирус не всегда замечает</a:t>
            </a:r>
            <a:endParaRPr lang="en-US" sz="9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19844" y="2278410"/>
            <a:ext cx="2714104" cy="11369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5255" y="2416671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Дропперы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15255" y="2719015"/>
            <a:ext cx="2380431" cy="558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Маленький файл-загрузчик, который после запуска скачивает основной вредонос из интернета</a:t>
            </a:r>
            <a:endParaRPr lang="en-US" sz="9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19844" y="3523878"/>
            <a:ext cx="2714104" cy="113697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5255" y="3662139"/>
            <a:ext cx="1822103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Социальная инженерия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15255" y="3964484"/>
            <a:ext cx="2380431" cy="558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«Отключите антивирус перед установкой» — классическая просьба в инструкциях к крякам</a:t>
            </a:r>
            <a:endParaRPr lang="en-US" sz="950" dirty="0"/>
          </a:p>
        </p:txBody>
      </p:sp>
      <p:pic>
        <p:nvPicPr>
          <p:cNvPr id="12" name="Image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722" y="888763"/>
            <a:ext cx="5273278" cy="36393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7336" y="351904"/>
            <a:ext cx="4998393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Практическая часть: разбор кейса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827336" y="857250"/>
            <a:ext cx="7489254" cy="3065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После запуска пиратской версии программы папка </a:t>
            </a:r>
            <a:r>
              <a:rPr lang="en-US" sz="850" b="1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«Мои документы»</a:t>
            </a:r>
            <a:r>
              <a:rPr lang="en-US" sz="8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оказалась заблокирована. Файлы недоступны, на рабочем столе появилась записка с требованием выкупа.</a:t>
            </a:r>
            <a:endParaRPr lang="en-US" sz="8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36" y="1257300"/>
            <a:ext cx="7489254" cy="328753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097828" y="3637262"/>
            <a:ext cx="1312780" cy="2028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Запуск ПО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2097828" y="3897834"/>
            <a:ext cx="1312780" cy="2864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Запуск пиратской программы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83710" y="3586771"/>
            <a:ext cx="1312780" cy="2028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Проверка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783710" y="3847343"/>
            <a:ext cx="1312780" cy="2864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VirusTotal: детект Trojan.Ransom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951589" y="1602048"/>
            <a:ext cx="1312780" cy="2028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Блокировка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951589" y="1862620"/>
            <a:ext cx="1312780" cy="429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Папка «Мои документы» зашифрована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7336" y="4638303"/>
            <a:ext cx="7946454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Анализ исполняемого файла на </a:t>
            </a:r>
            <a:r>
              <a:rPr lang="en-US" sz="850" b="1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VirusTotal</a:t>
            </a:r>
            <a:r>
              <a:rPr lang="en-US" sz="8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показал 47 детектов из 68 антивирусов. Основной вердикт: </a:t>
            </a:r>
            <a:r>
              <a:rPr lang="en-US" sz="850" b="1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Trojan.Ransom.Win32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98091"/>
            <a:ext cx="8151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Решение инцидента: восстановление прав NTFS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2038424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Что произошло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2401639"/>
            <a:ext cx="390294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Вредонос изменил права доступа NTFS на папку — пользователь потерял контроль над своими файлами, хотя данные не были зашифрованы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6119" y="3241551"/>
            <a:ext cx="3902943" cy="779562"/>
          </a:xfrm>
          <a:prstGeom prst="roundRect">
            <a:avLst>
              <a:gd name="adj" fmla="val 7638"/>
            </a:avLst>
          </a:prstGeom>
          <a:solidFill>
            <a:srgbClr val="B6D6F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77" y="3461370"/>
            <a:ext cx="177180" cy="1417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6816" y="3404518"/>
            <a:ext cx="330048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Это не настоящий ransomware — файлы целы, нужно только вернуть права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749701" y="2038424"/>
            <a:ext cx="390294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Команды восстановления (CMD от имени администратора)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749701" y="2640806"/>
            <a:ext cx="3902943" cy="963960"/>
          </a:xfrm>
          <a:prstGeom prst="roundRect">
            <a:avLst>
              <a:gd name="adj" fmla="val 6177"/>
            </a:avLst>
          </a:prstGeom>
          <a:solidFill>
            <a:srgbClr val="F2F2F2"/>
          </a:solidFill>
          <a:ln/>
        </p:spPr>
      </p:sp>
      <p:sp>
        <p:nvSpPr>
          <p:cNvPr id="10" name="Shape 7"/>
          <p:cNvSpPr/>
          <p:nvPr/>
        </p:nvSpPr>
        <p:spPr>
          <a:xfrm>
            <a:off x="4859759" y="2572668"/>
            <a:ext cx="3917082" cy="963960"/>
          </a:xfrm>
          <a:prstGeom prst="roundRect">
            <a:avLst>
              <a:gd name="adj" fmla="val 2206"/>
            </a:avLst>
          </a:prstGeom>
          <a:solidFill>
            <a:srgbClr val="F2F2F2"/>
          </a:solidFill>
          <a:ln/>
        </p:spPr>
      </p:sp>
      <p:sp>
        <p:nvSpPr>
          <p:cNvPr id="11" name="Text 8"/>
          <p:cNvSpPr/>
          <p:nvPr/>
        </p:nvSpPr>
        <p:spPr>
          <a:xfrm>
            <a:off x="4919811" y="2782565"/>
            <a:ext cx="35627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takeown /f "C:\Users\Name\Documents" /r /d y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icacls "C:\Users\Name\Documents" /grant Users:F /t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749701" y="3764235"/>
            <a:ext cx="390294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takeown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— возвращает владельца папки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icacls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— выдаёт полные права пользователю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857250"/>
            <a:ext cx="3429000" cy="3429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44844" y="119075"/>
            <a:ext cx="4815111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Выводы и рекомендации</a:t>
            </a:r>
            <a:endParaRPr lang="en-US" sz="2750" dirty="0"/>
          </a:p>
        </p:txBody>
      </p:sp>
      <p:sp>
        <p:nvSpPr>
          <p:cNvPr id="15" name="TextBox 14"/>
          <p:cNvSpPr txBox="1"/>
          <p:nvPr/>
        </p:nvSpPr>
        <p:spPr>
          <a:xfrm>
            <a:off x="226463" y="747757"/>
            <a:ext cx="4768572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300" dirty="0" smtClean="0">
                <a:cs typeface="Gelasio" panose="020B0604020202020204" charset="0"/>
              </a:rPr>
              <a:t>Была достигнута поставленная цель, проведен анализ безопасности пиратского программного обеспечения</a:t>
            </a:r>
            <a:r>
              <a:rPr lang="en-US" sz="1300" dirty="0" smtClean="0">
                <a:cs typeface="Gelasio" panose="020B0604020202020204" charset="0"/>
              </a:rPr>
              <a:t>;</a:t>
            </a:r>
            <a:r>
              <a:rPr lang="ru-RU" sz="1300" dirty="0" smtClean="0">
                <a:cs typeface="Gelasio" panose="020B0604020202020204" charset="0"/>
              </a:rPr>
              <a:t> риски, с которыми может столкнуться пользователь</a:t>
            </a:r>
            <a:r>
              <a:rPr lang="en-US" sz="1300" dirty="0" smtClean="0">
                <a:cs typeface="Gelasio" panose="020B0604020202020204" charset="0"/>
              </a:rPr>
              <a:t>;</a:t>
            </a:r>
            <a:r>
              <a:rPr lang="ru-RU" sz="1300" dirty="0" smtClean="0">
                <a:cs typeface="Gelasio" panose="020B0604020202020204" charset="0"/>
              </a:rPr>
              <a:t> а также принципы работы современных технологий защиты.</a:t>
            </a:r>
          </a:p>
        </p:txBody>
      </p:sp>
      <p:sp>
        <p:nvSpPr>
          <p:cNvPr id="18" name="Shape 4"/>
          <p:cNvSpPr/>
          <p:nvPr/>
        </p:nvSpPr>
        <p:spPr>
          <a:xfrm>
            <a:off x="226463" y="1897929"/>
            <a:ext cx="318939" cy="318939"/>
          </a:xfrm>
          <a:prstGeom prst="roundRect">
            <a:avLst>
              <a:gd name="adj" fmla="val 18669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19" name="Прямоугольник 18"/>
          <p:cNvSpPr/>
          <p:nvPr/>
        </p:nvSpPr>
        <p:spPr>
          <a:xfrm>
            <a:off x="640972" y="1857343"/>
            <a:ext cx="389257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b="1" dirty="0"/>
              <a:t>Высокий риск:</a:t>
            </a:r>
            <a:r>
              <a:rPr lang="ru-RU" sz="1000" dirty="0"/>
              <a:t> Пиратское ПО — основной источник внедрения вредоносного кода (</a:t>
            </a:r>
            <a:r>
              <a:rPr lang="ru-RU" sz="1000" dirty="0" err="1"/>
              <a:t>майнеры</a:t>
            </a:r>
            <a:r>
              <a:rPr lang="ru-RU" sz="1000" dirty="0"/>
              <a:t>, шифровальщики).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640972" y="2568282"/>
            <a:ext cx="389257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b="1" dirty="0"/>
              <a:t>Отсутствие защиты:</a:t>
            </a:r>
            <a:r>
              <a:rPr lang="ru-RU" sz="1000" dirty="0"/>
              <a:t> Без официальных обновлений система остается уязвимой для новых </a:t>
            </a:r>
            <a:r>
              <a:rPr lang="ru-RU" sz="1000" dirty="0" err="1"/>
              <a:t>киберугроз</a:t>
            </a:r>
            <a:endParaRPr lang="ru-RU" sz="1000" dirty="0"/>
          </a:p>
        </p:txBody>
      </p:sp>
      <p:sp>
        <p:nvSpPr>
          <p:cNvPr id="22" name="Shape 4"/>
          <p:cNvSpPr/>
          <p:nvPr/>
        </p:nvSpPr>
        <p:spPr>
          <a:xfrm>
            <a:off x="226463" y="2607272"/>
            <a:ext cx="318939" cy="318939"/>
          </a:xfrm>
          <a:prstGeom prst="roundRect">
            <a:avLst>
              <a:gd name="adj" fmla="val 18669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23" name="Прямоугольник 22"/>
          <p:cNvSpPr/>
          <p:nvPr/>
        </p:nvSpPr>
        <p:spPr>
          <a:xfrm>
            <a:off x="640972" y="3279221"/>
            <a:ext cx="389257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b="1" dirty="0"/>
              <a:t>Скрытые затраты:</a:t>
            </a:r>
            <a:r>
              <a:rPr lang="ru-RU" sz="1000" dirty="0"/>
              <a:t> Расходы на восстановление данных и техники превышают стоимость лицензии.</a:t>
            </a:r>
          </a:p>
        </p:txBody>
      </p:sp>
      <p:sp>
        <p:nvSpPr>
          <p:cNvPr id="25" name="Shape 4"/>
          <p:cNvSpPr/>
          <p:nvPr/>
        </p:nvSpPr>
        <p:spPr>
          <a:xfrm>
            <a:off x="226463" y="3316615"/>
            <a:ext cx="318939" cy="318939"/>
          </a:xfrm>
          <a:prstGeom prst="roundRect">
            <a:avLst>
              <a:gd name="adj" fmla="val 18669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  <p:sp>
        <p:nvSpPr>
          <p:cNvPr id="26" name="Прямоугольник 25"/>
          <p:cNvSpPr/>
          <p:nvPr/>
        </p:nvSpPr>
        <p:spPr>
          <a:xfrm>
            <a:off x="640972" y="3990160"/>
            <a:ext cx="389257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b="1" dirty="0"/>
              <a:t>Альтернатива:</a:t>
            </a:r>
            <a:r>
              <a:rPr lang="ru-RU" sz="1000" dirty="0"/>
              <a:t> Безопасная замена пиратского софта — переход на </a:t>
            </a:r>
            <a:r>
              <a:rPr lang="ru-RU" sz="1000" dirty="0" err="1"/>
              <a:t>Open</a:t>
            </a:r>
            <a:r>
              <a:rPr lang="ru-RU" sz="1000" dirty="0"/>
              <a:t> </a:t>
            </a:r>
            <a:r>
              <a:rPr lang="ru-RU" sz="1000" dirty="0" err="1"/>
              <a:t>Source</a:t>
            </a:r>
            <a:r>
              <a:rPr lang="ru-RU" sz="1000" dirty="0"/>
              <a:t> решения.</a:t>
            </a:r>
          </a:p>
        </p:txBody>
      </p:sp>
      <p:sp>
        <p:nvSpPr>
          <p:cNvPr id="27" name="Shape 4"/>
          <p:cNvSpPr/>
          <p:nvPr/>
        </p:nvSpPr>
        <p:spPr>
          <a:xfrm>
            <a:off x="226462" y="4025959"/>
            <a:ext cx="318939" cy="318939"/>
          </a:xfrm>
          <a:prstGeom prst="roundRect">
            <a:avLst>
              <a:gd name="adj" fmla="val 18669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130</TotalTime>
  <Words>564</Words>
  <Application>Microsoft Office PowerPoint</Application>
  <PresentationFormat>Экран (16:9)</PresentationFormat>
  <Paragraphs>86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Lato</vt:lpstr>
      <vt:lpstr>Gelasio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user</cp:lastModifiedBy>
  <cp:revision>15</cp:revision>
  <dcterms:created xsi:type="dcterms:W3CDTF">2026-06-09T17:15:43Z</dcterms:created>
  <dcterms:modified xsi:type="dcterms:W3CDTF">2026-06-14T12:39:41Z</dcterms:modified>
</cp:coreProperties>
</file>